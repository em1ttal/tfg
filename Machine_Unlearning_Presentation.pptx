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8" r:id="rId17"/>
    <p:sldId id="274" r:id="rId18"/>
    <p:sldId id="275" r:id="rId19"/>
    <p:sldId id="276" r:id="rId20"/>
    <p:sldId id="277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3"/>
  </p:normalViewPr>
  <p:slideViewPr>
    <p:cSldViewPr snapToGrid="0" snapToObjects="1">
      <p:cViewPr varScale="1">
        <p:scale>
          <a:sx n="146" d="100"/>
          <a:sy n="146" d="100"/>
        </p:scale>
        <p:origin x="19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Machine Unlearning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adding</a:t>
            </a:r>
            <a:r>
              <a:rPr lang="es-ES" dirty="0"/>
              <a:t> </a:t>
            </a:r>
            <a:r>
              <a:rPr lang="es-ES" dirty="0" err="1"/>
              <a:t>noise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weights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Multi-Class Spiral Dataset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Dataset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Synthetic multi-class spirals (1200 samples, 4 classes)</a:t>
            </a:r>
            <a:endParaRPr lang="es-ES" dirty="0"/>
          </a:p>
          <a:p>
            <a:pPr>
              <a:defRPr sz="1800"/>
            </a:pPr>
            <a:r>
              <a:rPr lang="en-US" dirty="0"/>
              <a:t>300 samples per class</a:t>
            </a:r>
          </a:p>
          <a:p>
            <a:pPr>
              <a:defRPr sz="1800"/>
            </a:pPr>
            <a:r>
              <a:rPr lang="en-US" dirty="0"/>
              <a:t>Archimedean spirals with Gaussian noise (</a:t>
            </a:r>
            <a:r>
              <a:rPr lang="el-GR" dirty="0"/>
              <a:t>σ=0.5)</a:t>
            </a:r>
            <a:endParaRPr lang="en-US" dirty="0"/>
          </a:p>
          <a:p>
            <a:pPr>
              <a:defRPr sz="1800"/>
            </a:pPr>
            <a:r>
              <a:rPr lang="en-US" dirty="0"/>
              <a:t>Standardized to mean = 0 and std =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E97629-EE76-584F-93E4-6DCCF069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479" y="2902022"/>
            <a:ext cx="4404545" cy="35218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Train test </a:t>
            </a:r>
            <a:r>
              <a:rPr lang="es-ES" dirty="0" err="1"/>
              <a:t>split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E6A14-8E7A-A4E7-B232-EFBD1935A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7678"/>
            <a:ext cx="7543800" cy="311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Spiral Dataset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Step 1: Generate theta values → </a:t>
            </a:r>
            <a:r>
              <a:rPr dirty="0" err="1"/>
              <a:t>θ</a:t>
            </a:r>
            <a:r>
              <a:rPr dirty="0"/>
              <a:t> = √(random) × 2π</a:t>
            </a:r>
          </a:p>
          <a:p>
            <a:pPr marL="0" indent="0">
              <a:buNone/>
              <a:defRPr sz="1800"/>
            </a:pPr>
            <a:r>
              <a:rPr dirty="0"/>
              <a:t>Step 2: Calculate angle offset → Each class rotated by 90°</a:t>
            </a:r>
          </a:p>
          <a:p>
            <a:pPr marL="0" indent="0">
              <a:buNone/>
              <a:defRPr sz="1800"/>
            </a:pPr>
            <a:r>
              <a:rPr dirty="0"/>
              <a:t>Step 3: Generate spiral radius → r = 2θ + π (Archimedean spiral)</a:t>
            </a:r>
          </a:p>
          <a:p>
            <a:pPr marL="0" indent="0">
              <a:buNone/>
              <a:defRPr sz="1800"/>
            </a:pPr>
            <a:r>
              <a:rPr dirty="0"/>
              <a:t>Step 4: Convert to Cartesian → x = cos(</a:t>
            </a:r>
            <a:r>
              <a:rPr dirty="0" err="1"/>
              <a:t>θ</a:t>
            </a:r>
            <a:r>
              <a:rPr dirty="0"/>
              <a:t> + offset) × r</a:t>
            </a:r>
          </a:p>
          <a:p>
            <a:pPr marL="0" indent="0">
              <a:buNone/>
              <a:defRPr sz="1800"/>
            </a:pPr>
            <a:r>
              <a:rPr dirty="0"/>
              <a:t>Step 5: Add Gaussian noise → data + N(0, 0.5²)</a:t>
            </a: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Step 6: Shuffle all points → Remove ordering bias</a:t>
            </a:r>
            <a:endParaRPr lang="en-US" sz="1800" dirty="0"/>
          </a:p>
          <a:p>
            <a:pPr marL="0" indent="0">
              <a:buNone/>
              <a:defRPr sz="1800"/>
            </a:pPr>
            <a:r>
              <a:rPr sz="1800" dirty="0"/>
              <a:t>Result: 4 intertwined spirals, visually interpretable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1. Dataset Generation: Create 4-class spiral data (1200 samples)</a:t>
            </a:r>
          </a:p>
          <a:p>
            <a:pPr marL="0" indent="0">
              <a:buNone/>
              <a:defRPr sz="1800"/>
            </a:pPr>
            <a:r>
              <a:rPr dirty="0"/>
              <a:t>2. Train/Test Split: 80-20 stratified split (960 train, 240 test)</a:t>
            </a:r>
          </a:p>
          <a:p>
            <a:pPr marL="0" indent="0">
              <a:buNone/>
              <a:defRPr sz="1800"/>
            </a:pPr>
            <a:r>
              <a:rPr dirty="0"/>
              <a:t>3. Feature Standardization: Zero mean, unit variance (using training statistics)</a:t>
            </a:r>
          </a:p>
          <a:p>
            <a:pPr marL="0" indent="0">
              <a:buNone/>
              <a:defRPr sz="1800"/>
            </a:pPr>
            <a:r>
              <a:rPr dirty="0"/>
              <a:t>4. </a:t>
            </a:r>
            <a:r>
              <a:rPr dirty="0" err="1"/>
              <a:t>PyTorch</a:t>
            </a:r>
            <a:r>
              <a:rPr dirty="0"/>
              <a:t> Conversion: Convert to tensors (float32 features, long labels)</a:t>
            </a: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5. Dataset Creation: </a:t>
            </a:r>
            <a:r>
              <a:rPr lang="en-US" dirty="0" err="1"/>
              <a:t>TensorDatasets</a:t>
            </a:r>
            <a:r>
              <a:rPr lang="en-US" dirty="0"/>
              <a:t> for efficient batching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Selection: TabNet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n-US" sz="1800" dirty="0"/>
              <a:t>was developed by Google Cloud AI researchers.</a:t>
            </a:r>
            <a:endParaRPr lang="es-ES" sz="1800" dirty="0"/>
          </a:p>
          <a:p>
            <a:pPr>
              <a:defRPr sz="1800"/>
            </a:pPr>
            <a:r>
              <a:rPr lang="es-ES" dirty="0"/>
              <a:t>Neural </a:t>
            </a:r>
            <a:r>
              <a:rPr lang="es-ES" dirty="0" err="1"/>
              <a:t>network</a:t>
            </a:r>
            <a:r>
              <a:rPr lang="es-ES" dirty="0"/>
              <a:t> </a:t>
            </a:r>
            <a:r>
              <a:rPr lang="es-ES" dirty="0" err="1"/>
              <a:t>model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tabular data</a:t>
            </a:r>
            <a:endParaRPr dirty="0"/>
          </a:p>
          <a:p>
            <a:pPr>
              <a:defRPr sz="1800"/>
            </a:pPr>
            <a:r>
              <a:rPr dirty="0"/>
              <a:t>Key Features:</a:t>
            </a:r>
          </a:p>
          <a:p>
            <a:pPr>
              <a:defRPr sz="1800"/>
            </a:pPr>
            <a:r>
              <a:rPr dirty="0"/>
              <a:t>  • Attention-based feature selection (learns what matters)</a:t>
            </a:r>
          </a:p>
          <a:p>
            <a:pPr>
              <a:defRPr sz="1800"/>
            </a:pPr>
            <a:r>
              <a:rPr dirty="0"/>
              <a:t>  • Instance-wise importance (different features per sample)</a:t>
            </a:r>
          </a:p>
          <a:p>
            <a:pPr>
              <a:defRPr sz="1800"/>
            </a:pPr>
            <a:r>
              <a:rPr dirty="0"/>
              <a:t>  • Built-in interpretability (see feature contributions)</a:t>
            </a:r>
          </a:p>
          <a:p>
            <a:pPr>
              <a:defRPr sz="1800"/>
            </a:pPr>
            <a:r>
              <a:rPr dirty="0"/>
              <a:t>  • Sequential decision steps (3 steps in our config)</a:t>
            </a:r>
          </a:p>
          <a:p>
            <a:pPr>
              <a:defRPr sz="1800"/>
            </a:pPr>
            <a:r>
              <a:rPr dirty="0"/>
              <a:t>  </a:t>
            </a:r>
            <a:r>
              <a:rPr lang="en-US" dirty="0"/>
              <a:t>• </a:t>
            </a:r>
            <a:r>
              <a:rPr dirty="0"/>
              <a:t>Sparse attention mechanism (</a:t>
            </a:r>
            <a:r>
              <a:rPr dirty="0" err="1"/>
              <a:t>sparsemax</a:t>
            </a:r>
            <a:r>
              <a:rPr dirty="0"/>
              <a:t>)</a:t>
            </a:r>
            <a:endParaRPr lang="es-ES" dirty="0"/>
          </a:p>
          <a:p>
            <a:pPr>
              <a:defRPr sz="1800"/>
            </a:pPr>
            <a:r>
              <a:rPr lang="en-US" dirty="0"/>
              <a:t>  • </a:t>
            </a:r>
            <a:r>
              <a:rPr lang="en-US" sz="1800" dirty="0"/>
              <a:t>No preprocessing. Can often handle raw data directly, including categorical variables.</a:t>
            </a:r>
            <a:endParaRPr lang="es-ES" sz="1800" dirty="0"/>
          </a:p>
          <a:p>
            <a:pPr>
              <a:defRPr sz="1800"/>
            </a:pPr>
            <a:r>
              <a:rPr lang="en-US" dirty="0"/>
              <a:t>I use all the default </a:t>
            </a:r>
            <a:r>
              <a:rPr lang="en-US" dirty="0" err="1"/>
              <a:t>paramateres</a:t>
            </a:r>
            <a:r>
              <a:rPr lang="en-US" dirty="0"/>
              <a:t> provided by the </a:t>
            </a:r>
            <a:r>
              <a:rPr lang="en-US" dirty="0" err="1"/>
              <a:t>pytorch_tabnet.tab_model.TabNetClassifier</a:t>
            </a:r>
            <a:r>
              <a:rPr lang="en-US" dirty="0"/>
              <a:t> class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TabNet</a:t>
            </a:r>
            <a:r>
              <a:rPr lang="en-US" dirty="0"/>
              <a:t> Model Configuration</a:t>
            </a:r>
            <a:br>
              <a:rPr lang="en-US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1" y="1371600"/>
            <a:ext cx="41148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Architecture Parameters:</a:t>
            </a:r>
          </a:p>
          <a:p>
            <a:pPr>
              <a:defRPr sz="1600"/>
            </a:pPr>
            <a:r>
              <a:rPr lang="en-US" dirty="0"/>
              <a:t>• </a:t>
            </a:r>
            <a:r>
              <a:rPr lang="en-US" dirty="0" err="1"/>
              <a:t>n_d</a:t>
            </a:r>
            <a:r>
              <a:rPr lang="en-US" dirty="0"/>
              <a:t> = 8 (decision layer width)</a:t>
            </a:r>
            <a:r>
              <a:rPr lang="es-ES" dirty="0"/>
              <a:t> </a:t>
            </a:r>
            <a:endParaRPr lang="en-US" dirty="0"/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n_a</a:t>
            </a:r>
            <a:r>
              <a:rPr dirty="0"/>
              <a:t> = 8 (attention l</a:t>
            </a:r>
            <a:r>
              <a:rPr lang="en-US" dirty="0"/>
              <a:t>ayer width</a:t>
            </a:r>
            <a:r>
              <a:rPr dirty="0"/>
              <a:t>)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n_steps</a:t>
            </a:r>
            <a:r>
              <a:rPr dirty="0"/>
              <a:t> = 3 (</a:t>
            </a:r>
            <a:r>
              <a:rPr lang="es-ES" dirty="0" err="1"/>
              <a:t>num</a:t>
            </a:r>
            <a:r>
              <a:rPr lang="es-ES" dirty="0"/>
              <a:t> </a:t>
            </a:r>
            <a:r>
              <a:rPr lang="es-ES" dirty="0" err="1"/>
              <a:t>sequential</a:t>
            </a:r>
            <a:r>
              <a:rPr lang="es-ES" dirty="0"/>
              <a:t> </a:t>
            </a:r>
            <a:r>
              <a:rPr dirty="0"/>
              <a:t>decision steps)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n_independent</a:t>
            </a:r>
            <a:r>
              <a:rPr dirty="0"/>
              <a:t> = 2 (GLU layers)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n_shared</a:t>
            </a:r>
            <a:r>
              <a:rPr dirty="0"/>
              <a:t> = 2 (shared GLU layers)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Regularization:</a:t>
            </a:r>
          </a:p>
          <a:p>
            <a:pPr>
              <a:defRPr sz="1600"/>
            </a:pPr>
            <a:r>
              <a:rPr dirty="0"/>
              <a:t>• gamma = 1.3 (</a:t>
            </a:r>
            <a:r>
              <a:rPr lang="es-ES" dirty="0" err="1"/>
              <a:t>penalty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reuse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feature</a:t>
            </a:r>
            <a:r>
              <a:rPr lang="es-ES" dirty="0"/>
              <a:t> in </a:t>
            </a:r>
            <a:r>
              <a:rPr lang="es-ES" dirty="0" err="1"/>
              <a:t>multiple</a:t>
            </a:r>
            <a:r>
              <a:rPr lang="es-ES" dirty="0"/>
              <a:t> </a:t>
            </a:r>
            <a:r>
              <a:rPr lang="es-ES" dirty="0" err="1"/>
              <a:t>steps</a:t>
            </a:r>
            <a:r>
              <a:rPr dirty="0"/>
              <a:t>)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lambda_sparse</a:t>
            </a:r>
            <a:r>
              <a:rPr dirty="0"/>
              <a:t> = 1e-3 (sparsity)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412088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Training Parameters:</a:t>
            </a:r>
          </a:p>
          <a:p>
            <a:pPr>
              <a:defRPr sz="1600"/>
            </a:pPr>
            <a:r>
              <a:rPr dirty="0"/>
              <a:t>• Optimizer: Adam</a:t>
            </a:r>
          </a:p>
          <a:p>
            <a:pPr>
              <a:defRPr sz="1600"/>
            </a:pPr>
            <a:r>
              <a:rPr dirty="0"/>
              <a:t>• Learning rate: 0.02</a:t>
            </a:r>
            <a:r>
              <a:rPr lang="es-ES" dirty="0"/>
              <a:t> (step </a:t>
            </a:r>
            <a:r>
              <a:rPr lang="es-ES" dirty="0" err="1"/>
              <a:t>size</a:t>
            </a:r>
            <a:r>
              <a:rPr lang="es-ES" dirty="0"/>
              <a:t>)</a:t>
            </a:r>
            <a:endParaRPr dirty="0"/>
          </a:p>
          <a:p>
            <a:pPr>
              <a:defRPr sz="1600"/>
            </a:pPr>
            <a:r>
              <a:rPr dirty="0"/>
              <a:t>• Scheduler: </a:t>
            </a:r>
            <a:r>
              <a:rPr dirty="0" err="1"/>
              <a:t>StepLR</a:t>
            </a:r>
            <a:r>
              <a:rPr dirty="0"/>
              <a:t> (</a:t>
            </a:r>
            <a:r>
              <a:rPr dirty="0" err="1"/>
              <a:t>γ</a:t>
            </a:r>
            <a:r>
              <a:rPr dirty="0"/>
              <a:t>=0.9, step=10)</a:t>
            </a:r>
          </a:p>
          <a:p>
            <a:pPr>
              <a:defRPr sz="1600"/>
            </a:pPr>
            <a:r>
              <a:rPr dirty="0"/>
              <a:t>• Max epochs: 200</a:t>
            </a:r>
          </a:p>
          <a:p>
            <a:pPr>
              <a:defRPr sz="1600"/>
            </a:pPr>
            <a:r>
              <a:rPr dirty="0"/>
              <a:t>• Early stopping: patience=15</a:t>
            </a:r>
          </a:p>
          <a:p>
            <a:pPr>
              <a:defRPr sz="1600"/>
            </a:pPr>
            <a:r>
              <a:rPr dirty="0"/>
              <a:t>• Batch size: 256</a:t>
            </a:r>
          </a:p>
          <a:p>
            <a:pPr>
              <a:defRPr sz="1600"/>
            </a:pPr>
            <a:r>
              <a:rPr dirty="0"/>
              <a:t>• Virtual batch: 128 (Ghost BN)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Note: All default/recommended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Dataset: 960 training samples, 240 test samples</a:t>
            </a:r>
          </a:p>
          <a:p>
            <a:pPr>
              <a:defRPr sz="1800"/>
            </a:pPr>
            <a:r>
              <a:rPr dirty="0"/>
              <a:t>Early Stopping: Monitors test accuracy, stops after 15 epochs without improvement</a:t>
            </a:r>
          </a:p>
          <a:p>
            <a:pPr>
              <a:defRPr sz="1800"/>
            </a:pPr>
            <a:r>
              <a:rPr dirty="0"/>
              <a:t>Training Duration: ~2-3 seconds on CPU (66 epochs until convergence)</a:t>
            </a:r>
          </a:p>
          <a:p>
            <a:pPr>
              <a:defRPr sz="1800"/>
            </a:pPr>
            <a:r>
              <a:rPr dirty="0"/>
              <a:t>Validation: Continuous monitoring on test set</a:t>
            </a:r>
          </a:p>
          <a:p>
            <a:pPr>
              <a:defRPr sz="1800"/>
            </a:pPr>
            <a:r>
              <a:rPr dirty="0"/>
              <a:t>Best Performance: Achieved at epoch 51 (98.33% test accuracy)</a:t>
            </a:r>
          </a:p>
          <a:p>
            <a:pPr>
              <a:defRPr sz="1800"/>
            </a:pPr>
            <a:r>
              <a:rPr dirty="0"/>
              <a:t>Hardware: CPU (Apple Silicon) - sufficient for this dataset size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Training Accuracy: 98.85%</a:t>
            </a:r>
          </a:p>
          <a:p>
            <a:pPr>
              <a:defRPr sz="1800"/>
            </a:pPr>
            <a:r>
              <a:rPr dirty="0"/>
              <a:t>Test Accuracy: 98.33%</a:t>
            </a:r>
          </a:p>
          <a:p>
            <a:pPr>
              <a:defRPr sz="1800"/>
            </a:pPr>
            <a:r>
              <a:rPr dirty="0"/>
              <a:t>Overfitting Gap: 0.52% (excellent generalization!)</a:t>
            </a:r>
          </a:p>
          <a:p>
            <a:pPr>
              <a:defRPr sz="1800"/>
            </a:pPr>
            <a:r>
              <a:rPr dirty="0"/>
              <a:t>Misclassified Samples: ~4 out of 240 test samples</a:t>
            </a:r>
          </a:p>
          <a:p>
            <a:pPr>
              <a:defRPr sz="1800"/>
            </a:pPr>
            <a:r>
              <a:rPr dirty="0"/>
              <a:t>Training Time: 1.96 seconds (66 epochs)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dirty="0" err="1"/>
              <a:t>TabNet</a:t>
            </a:r>
            <a:r>
              <a:rPr dirty="0"/>
              <a:t> provides</a:t>
            </a:r>
            <a:r>
              <a:rPr lang="es-ES" dirty="0"/>
              <a:t> </a:t>
            </a:r>
            <a:r>
              <a:rPr lang="es-ES" dirty="0" err="1"/>
              <a:t>feature</a:t>
            </a:r>
            <a:r>
              <a:rPr lang="es-ES" dirty="0"/>
              <a:t> </a:t>
            </a:r>
            <a:r>
              <a:rPr lang="es-ES" dirty="0" err="1"/>
              <a:t>imporance</a:t>
            </a:r>
            <a:r>
              <a:rPr lang="es-ES" dirty="0"/>
              <a:t> </a:t>
            </a:r>
            <a:r>
              <a:rPr lang="es-ES" dirty="0" err="1"/>
              <a:t>metric</a:t>
            </a:r>
            <a:r>
              <a:rPr lang="es-ES" dirty="0"/>
              <a:t>:</a:t>
            </a:r>
            <a:br>
              <a:rPr lang="es-ES" dirty="0"/>
            </a:br>
            <a:endParaRPr lang="es-ES" dirty="0"/>
          </a:p>
          <a:p>
            <a:pPr marL="0" indent="0">
              <a:buNone/>
            </a:pPr>
            <a:r>
              <a:rPr lang="en-US" sz="1900" dirty="0"/>
              <a:t>print("=" * 60)</a:t>
            </a:r>
          </a:p>
          <a:p>
            <a:pPr marL="0" indent="0">
              <a:buNone/>
            </a:pPr>
            <a:r>
              <a:rPr lang="en-US" sz="1900" dirty="0"/>
              <a:t>print("FEATURE IMPORTANCE")</a:t>
            </a:r>
          </a:p>
          <a:p>
            <a:pPr marL="0" indent="0">
              <a:buNone/>
            </a:pPr>
            <a:r>
              <a:rPr lang="en-US" sz="1900" dirty="0"/>
              <a:t>print("=" * 60)</a:t>
            </a:r>
          </a:p>
          <a:p>
            <a:pPr marL="0" indent="0">
              <a:buNone/>
            </a:pPr>
            <a:r>
              <a:rPr lang="en-US" sz="1900" dirty="0" err="1"/>
              <a:t>feature_names</a:t>
            </a:r>
            <a:r>
              <a:rPr lang="en-US" sz="1900" dirty="0"/>
              <a:t> = ['X coordinate', 'Y coordinate']</a:t>
            </a:r>
          </a:p>
          <a:p>
            <a:pPr marL="0" indent="0">
              <a:buNone/>
            </a:pPr>
            <a:r>
              <a:rPr lang="en-US" sz="1900" dirty="0"/>
              <a:t>for name, importance in zip(</a:t>
            </a:r>
            <a:r>
              <a:rPr lang="en-US" sz="1900" dirty="0" err="1"/>
              <a:t>feature_names</a:t>
            </a:r>
            <a:r>
              <a:rPr lang="en-US" sz="1900" dirty="0"/>
              <a:t>, </a:t>
            </a:r>
            <a:r>
              <a:rPr lang="en-US" sz="1900" dirty="0" err="1"/>
              <a:t>feature_importances</a:t>
            </a:r>
            <a:r>
              <a:rPr lang="en-US" sz="1900" dirty="0"/>
              <a:t>):</a:t>
            </a:r>
          </a:p>
          <a:p>
            <a:pPr marL="0" indent="0">
              <a:buNone/>
            </a:pPr>
            <a:r>
              <a:rPr lang="en-US" sz="1900" dirty="0"/>
              <a:t>print(f"{name:15s}: {importance:.4f} ({importance*100:.2f}%)")</a:t>
            </a:r>
          </a:p>
          <a:p>
            <a:pPr marL="0" indent="0">
              <a:buNone/>
            </a:pPr>
            <a:r>
              <a:rPr lang="en-US" sz="1900" dirty="0"/>
              <a:t>print("=" * 60)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Feature Contributions:</a:t>
            </a:r>
          </a:p>
          <a:p>
            <a:pPr>
              <a:defRPr sz="1800"/>
            </a:pPr>
            <a:r>
              <a:rPr dirty="0"/>
              <a:t>  • X coordinate: ~50%</a:t>
            </a:r>
          </a:p>
          <a:p>
            <a:pPr>
              <a:defRPr sz="1800"/>
            </a:pPr>
            <a:r>
              <a:rPr dirty="0"/>
              <a:t>  • Y coordinate: ~50%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748F-F89C-FF20-B472-8AFE2B63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Forget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E4BA7-D515-BF7A-76EA-D61645BDD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1. Class removal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C4AE82-69E3-B9B4-7981-14A6420A8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6951"/>
            <a:ext cx="7772400" cy="288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14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2629-39C9-13CF-42B9-9876C22F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BE5-05C3-F2EA-5B26-428E08F2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Forget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C8D1C-5D87-6BDF-9B03-D225650EE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2. Edge removal of 1 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1596A7-2A16-E58B-5633-13574D46A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79659"/>
            <a:ext cx="7772400" cy="289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87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F49E8-ECF5-28B2-36D7-E4EDC24E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2705-9D2A-1606-DDC5-8F062846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Forget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1B21-F9A2-8BC7-D1A3-E83B8D9F4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3. Edge removal of 2 classes.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6936A2-E1A4-9A71-4103-818200AD8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09" y="2613968"/>
            <a:ext cx="7772400" cy="288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72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9A62-74CB-D527-C061-56F6113E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92A6-B45D-A281-8AD2-B87D43312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Forget requests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93196-0E47-366F-CEE1-D58FB5DCF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Original Training Set: 960 samples </a:t>
            </a:r>
          </a:p>
          <a:p>
            <a:r>
              <a:rPr lang="en-US" sz="1800" dirty="0"/>
              <a:t>Forget Request 1 (Remove Class 2): </a:t>
            </a:r>
          </a:p>
          <a:p>
            <a:pPr lvl="1"/>
            <a:r>
              <a:rPr lang="en-US" sz="1400" dirty="0"/>
              <a:t>Remaining: 720 samples (75.0%) </a:t>
            </a:r>
          </a:p>
          <a:p>
            <a:pPr lvl="1"/>
            <a:r>
              <a:rPr lang="en-US" sz="1400" dirty="0"/>
              <a:t>Removed: 240 samples (25.0%) </a:t>
            </a:r>
          </a:p>
          <a:p>
            <a:r>
              <a:rPr lang="en-US" sz="1800" dirty="0"/>
              <a:t>Forget Request 2 (Trim Class 1): </a:t>
            </a:r>
          </a:p>
          <a:p>
            <a:pPr lvl="1"/>
            <a:r>
              <a:rPr lang="en-US" sz="1400" dirty="0"/>
              <a:t>Remaining: 864 samples (90.0%) </a:t>
            </a:r>
          </a:p>
          <a:p>
            <a:pPr lvl="1"/>
            <a:r>
              <a:rPr lang="en-US" sz="1400" dirty="0"/>
              <a:t>Removed: 96 samples (10.0%) </a:t>
            </a:r>
          </a:p>
          <a:p>
            <a:r>
              <a:rPr lang="en-US" sz="1800" dirty="0"/>
              <a:t>Forget Request 3 (Trim Classes 0 &amp; 3): </a:t>
            </a:r>
          </a:p>
          <a:p>
            <a:pPr lvl="1"/>
            <a:r>
              <a:rPr lang="en-US" sz="1400" dirty="0"/>
              <a:t>Remaining: 768 samples (80.0%) </a:t>
            </a:r>
          </a:p>
          <a:p>
            <a:pPr lvl="1"/>
            <a:r>
              <a:rPr lang="en-US" sz="1400" dirty="0"/>
              <a:t>Removed: 192 samples (20.0%)</a:t>
            </a:r>
          </a:p>
        </p:txBody>
      </p:sp>
    </p:spTree>
    <p:extLst>
      <p:ext uri="{BB962C8B-B14F-4D97-AF65-F5344CB8AC3E}">
        <p14:creationId xmlns:p14="http://schemas.microsoft.com/office/powerpoint/2010/main" val="378506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519E5-BFAD-98DC-03FD-72AC76B43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4C6F6-93EB-67A9-077E-0EF50C562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Retraining for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EE036-EEF1-F830-2F36-EB74D3ADA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Retraining with only retain set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32448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F93E-0915-8CD2-5043-E3B2BDE6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E2CC-9925-7607-5262-243BB676D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Unlearning methods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2113E-24DD-9BBF-6553-3CD946AA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1. Gaussian Noise</a:t>
            </a:r>
          </a:p>
          <a:p>
            <a:r>
              <a:rPr lang="el-GR" sz="1800" dirty="0"/>
              <a:t>θ' = θ + ε, ε ~ </a:t>
            </a:r>
            <a:r>
              <a:rPr lang="en-US" sz="1800" dirty="0"/>
              <a:t>N(0, </a:t>
            </a:r>
            <a:r>
              <a:rPr lang="el-GR" sz="1800" dirty="0"/>
              <a:t>σ²)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4EEC1-CBBD-E4B4-0F5A-11E4604F4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514600"/>
            <a:ext cx="6781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82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861C9-CA5E-2826-1901-584569F9A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59EE-E601-1567-BE50-0E1D880A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Unlearning methods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45810-D8EC-C2E5-13EF-4F783B21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2. Laplacian Noise</a:t>
            </a:r>
          </a:p>
          <a:p>
            <a:r>
              <a:rPr lang="el-GR" sz="1800" dirty="0"/>
              <a:t>θ' = θ + ε, ε ~ </a:t>
            </a:r>
            <a:r>
              <a:rPr lang="en-US" sz="1800" dirty="0"/>
              <a:t>Laplace(0, b)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39DEC-ABFE-D6F2-9E91-264D20EB1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01780"/>
            <a:ext cx="7772400" cy="28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99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2E50-C980-BB0F-DFFF-42727DCA9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6AEE-CAC2-789C-0D03-EE98D82B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Unlearning methods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58F07-636C-7991-CEE4-4D73F0320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3. Adaptive Noise</a:t>
            </a:r>
          </a:p>
          <a:p>
            <a:r>
              <a:rPr lang="el-GR" sz="1800" dirty="0"/>
              <a:t>θ' = θ + ε * |θ|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B3204-3596-7F34-8F7A-F3705876F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755356"/>
            <a:ext cx="6477000" cy="29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33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566C-F19A-EA3D-CA74-07406AF7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AC71-9AD0-3EF4-5557-63EBEA88D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Unlearning methods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90A54-F85A-3AD1-5E36-BE78DFBA9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4. Layer Wise Noise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384E9-F8CD-D618-ED28-2CEDBCFA7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29148"/>
            <a:ext cx="7772400" cy="349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76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9E5B-73A1-EC9D-A361-32D97A46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1535-C769-ACF6-9401-3DAB6F80B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Unlearning methods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B1914-54CE-35DC-A516-309A1EB11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5. </a:t>
            </a:r>
            <a:r>
              <a:rPr lang="en-US" sz="1800" dirty="0" err="1"/>
              <a:t>Gardent</a:t>
            </a:r>
            <a:r>
              <a:rPr lang="en-US" sz="1800" dirty="0"/>
              <a:t> based Noise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8A17E-A3DB-9CBD-3F30-14A546BF2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633" y="2212118"/>
            <a:ext cx="6854734" cy="445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8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9FA9-830B-A531-6240-343F076B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Unlearning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813AE-8E11-913E-B54E-D978F2EB1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three unlearning requests with all 5 methods</a:t>
            </a:r>
          </a:p>
          <a:p>
            <a:r>
              <a:rPr lang="en-US" dirty="0"/>
              <a:t>Currently testing different parameter combinations to find the ideal values</a:t>
            </a:r>
          </a:p>
        </p:txBody>
      </p:sp>
    </p:spTree>
    <p:extLst>
      <p:ext uri="{BB962C8B-B14F-4D97-AF65-F5344CB8AC3E}">
        <p14:creationId xmlns:p14="http://schemas.microsoft.com/office/powerpoint/2010/main" val="1084120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5A3B-D8F6-336F-75E7-8ACC0150D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AF254-DD64-8747-D1A5-F8ACBE759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Are my three ideas of unlearning requests correct?</a:t>
            </a:r>
          </a:p>
          <a:p>
            <a:r>
              <a:rPr lang="en-US" sz="1800" dirty="0"/>
              <a:t>What can I use for real data now? Any publicly available </a:t>
            </a:r>
            <a:r>
              <a:rPr lang="en-US" sz="1800" dirty="0" err="1"/>
              <a:t>datsets</a:t>
            </a:r>
            <a:r>
              <a:rPr lang="en-US" sz="1800" dirty="0"/>
              <a:t>?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671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913</Words>
  <Application>Microsoft Macintosh PowerPoint</Application>
  <PresentationFormat>On-screen Show (4:3)</PresentationFormat>
  <Paragraphs>118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Machine Unlearning by adding noise to model weights</vt:lpstr>
      <vt:lpstr>Dataset</vt:lpstr>
      <vt:lpstr>Train test split</vt:lpstr>
      <vt:lpstr>Spiral Dataset Generation</vt:lpstr>
      <vt:lpstr>Data Preparation Pipeline</vt:lpstr>
      <vt:lpstr>Model Selection: TabNet</vt:lpstr>
      <vt:lpstr>TabNet Model Configuration </vt:lpstr>
      <vt:lpstr>Training Process</vt:lpstr>
      <vt:lpstr>Model Performance Results</vt:lpstr>
      <vt:lpstr>Feature Importance Analysis</vt:lpstr>
      <vt:lpstr>Forget requests</vt:lpstr>
      <vt:lpstr>Forget requests</vt:lpstr>
      <vt:lpstr>Forget requests</vt:lpstr>
      <vt:lpstr>Forget requests summary</vt:lpstr>
      <vt:lpstr>Retraining for baseline</vt:lpstr>
      <vt:lpstr>Unlearning methods used</vt:lpstr>
      <vt:lpstr>Unlearning methods used</vt:lpstr>
      <vt:lpstr>Unlearning methods used</vt:lpstr>
      <vt:lpstr>Unlearning methods used</vt:lpstr>
      <vt:lpstr>Unlearning methods used</vt:lpstr>
      <vt:lpstr>Unlearning tests</vt:lpstr>
      <vt:lpstr>Questions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Eshaan Mittal</cp:lastModifiedBy>
  <cp:revision>4</cp:revision>
  <dcterms:created xsi:type="dcterms:W3CDTF">2013-01-27T09:14:16Z</dcterms:created>
  <dcterms:modified xsi:type="dcterms:W3CDTF">2025-12-18T00:07:20Z</dcterms:modified>
  <cp:category/>
</cp:coreProperties>
</file>